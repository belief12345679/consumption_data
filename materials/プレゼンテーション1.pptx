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704"/>
  </p:normalViewPr>
  <p:slideViewPr>
    <p:cSldViewPr snapToGrid="0">
      <p:cViewPr varScale="1">
        <p:scale>
          <a:sx n="119" d="100"/>
          <a:sy n="119" d="100"/>
        </p:scale>
        <p:origin x="21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7C3F61-0C19-3C7F-5260-9935C707A57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1437154-009A-B1DA-8D4C-887BF3B0E9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89BDBC8-6CE5-9CDB-BFB2-CF92F8EF33CB}"/>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2126A995-3D1B-510F-9FE4-8FF4032128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77D0A0-EAF1-2C56-0AE3-035B8008B6D3}"/>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1345168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8F8E8-3092-E720-CF45-EB6B843E8FA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68D8F5-C9A0-8DD5-5E18-DBCE17A10EC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678FAD-2697-27AA-4CB4-940033FCC87B}"/>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6AB7752C-FA71-00A4-2CBE-FEDFC5CD2F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A98402-2224-91D4-5ABA-F0795FE08F9E}"/>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3971443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98BF0B-25F5-51EA-4318-FB71E3DB930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974D175-22C7-067F-7D0E-B8FC0652A6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8F3E66B-CDB9-C44E-B581-8F34CCF516E1}"/>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ABB2E319-C7E0-92D6-EBF4-5E23D55E812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E9D0B2-DCCD-48C7-E8B5-5864B0EDB30F}"/>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419749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3378F0-E1D1-ACC0-D1CC-BB6D9821C50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1E35075-8AC6-E06B-B45D-EB7E95BBCFA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84E686D-89BA-A7C2-F662-56BB9AF854B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8285A93-5A37-898D-E0DC-9A131EDAE6A8}"/>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A31FCA9D-F995-6286-82E3-3723AC1A844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73FEA4-3C2A-E8AF-EBDA-8E4D76B7F1D9}"/>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1261007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5323ED-E43B-0B60-E71C-269B7E98B596}"/>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06FFCD1-1CA2-D7FD-69DE-0A219D18EF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95BBBF7-CC30-6B35-1E47-14D5504944E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2ABBA21-9163-CD45-BDF4-37ED0B9113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92978FF-158D-63B1-B6C9-DD44310B17F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ED736358-0A12-06B4-15FB-EAA44B3EBAB5}"/>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8" name="フッター プレースホルダー 7">
            <a:extLst>
              <a:ext uri="{FF2B5EF4-FFF2-40B4-BE49-F238E27FC236}">
                <a16:creationId xmlns:a16="http://schemas.microsoft.com/office/drawing/2014/main" id="{429E24A1-3FDD-A875-5951-EDCE13DBDA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4C95971-FB34-A266-1581-EBB25E4A3958}"/>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2218675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C0670A-368D-7AE4-5F49-923FF00BC2E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353DD6F-7450-9800-A668-950CF6C45AE8}"/>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4" name="フッター プレースホルダー 3">
            <a:extLst>
              <a:ext uri="{FF2B5EF4-FFF2-40B4-BE49-F238E27FC236}">
                <a16:creationId xmlns:a16="http://schemas.microsoft.com/office/drawing/2014/main" id="{208B4785-C462-D0B9-9318-F14D1038591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F145F74-08D6-0CC9-EC6B-C732F8A964EA}"/>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4163537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2E5E267-0F1D-8DF8-5284-50AA8A91BDAA}"/>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3" name="フッター プレースホルダー 2">
            <a:extLst>
              <a:ext uri="{FF2B5EF4-FFF2-40B4-BE49-F238E27FC236}">
                <a16:creationId xmlns:a16="http://schemas.microsoft.com/office/drawing/2014/main" id="{8FDF1739-CCA8-5086-D311-B626987219C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4DCEED-CCB1-C3B4-4432-FE772B185200}"/>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3042555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3C2F29-EBCD-62C4-AC30-F5698152520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739B367-0F42-8AE5-F001-40F017FF6F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AD6581A-9B16-88A3-4667-FBF0DA8A33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F6FD75E-8F1D-E546-6A38-C9EA5A4E2DC8}"/>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198F416E-F1A8-EB5E-8B24-61CCA2F36AB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3699910-3D5E-B0C2-EBCD-406091B2B275}"/>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2303209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2FB1A6-F2B7-410F-FBE3-FE116D50C6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AA80BEB-F47E-F2C6-B5AC-9D6A33641B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1BA8ECC-42A3-6363-20FF-E7A5B29A0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0A65410-5773-00E8-549C-25AE9D842D09}"/>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3F26213E-B361-30EE-A34B-F64CC102B92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4D2948F-4536-A079-1DC1-F5B8EE2F56FC}"/>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1865202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872C87-D71E-06DC-B0BC-DCB2F81B9A8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1C0D701-3818-4D30-A93E-DBFC95EE932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F38B69A-DC14-84AD-CA97-DDB97CA94E49}"/>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0BF87DF6-D93B-1552-A4C6-EEC4673322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B915F8-D26B-136E-B257-39FF662D29B8}"/>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2749579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7CA379-6A1E-D220-642C-6893FF974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5859911-7B7B-FD59-A9A1-DF021164985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95755D2-BB45-1E95-39DA-A3EEAB41502E}"/>
              </a:ext>
            </a:extLst>
          </p:cNvPr>
          <p:cNvSpPr>
            <a:spLocks noGrp="1"/>
          </p:cNvSpPr>
          <p:nvPr>
            <p:ph type="dt" sz="half" idx="10"/>
          </p:nvPr>
        </p:nvSpPr>
        <p:spPr/>
        <p:txBody>
          <a:body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7BFA1199-1796-6CEE-2834-9651D1DD9B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83D2DEC-B381-8DB5-C8B7-B5509DB91D05}"/>
              </a:ext>
            </a:extLst>
          </p:cNvPr>
          <p:cNvSpPr>
            <a:spLocks noGrp="1"/>
          </p:cNvSpPr>
          <p:nvPr>
            <p:ph type="sldNum" sz="quarter" idx="12"/>
          </p:nvPr>
        </p:nvSpPr>
        <p:spPr/>
        <p:txBody>
          <a:body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1856936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46935A4-4EBA-DD07-A8F2-6DF4F874B62E}"/>
              </a:ext>
            </a:extLst>
          </p:cNvPr>
          <p:cNvSpPr>
            <a:spLocks noGrp="1"/>
          </p:cNvSpPr>
          <p:nvPr>
            <p:ph type="title"/>
          </p:nvPr>
        </p:nvSpPr>
        <p:spPr>
          <a:xfrm>
            <a:off x="838200" y="365126"/>
            <a:ext cx="10515600" cy="818216"/>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8D932A7-64D6-D45F-F1F5-9A654565A625}"/>
              </a:ext>
            </a:extLst>
          </p:cNvPr>
          <p:cNvSpPr>
            <a:spLocks noGrp="1"/>
          </p:cNvSpPr>
          <p:nvPr>
            <p:ph type="body" idx="1"/>
          </p:nvPr>
        </p:nvSpPr>
        <p:spPr>
          <a:xfrm>
            <a:off x="838200" y="1280160"/>
            <a:ext cx="10515600" cy="489680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506FDCE0-693B-0599-F6BF-43281219E0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35107C-790F-1143-90D7-703168B1D5A3}"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0CFCD761-C0A6-598E-E3FA-4DFA47CF3D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6F03CEB-B280-05DE-6729-CC24C3B93E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791F30-9FCB-5B45-9812-F8C78A9101EC}" type="slidenum">
              <a:rPr kumimoji="1" lang="ja-JP" altLang="en-US" smtClean="0"/>
              <a:t>‹#›</a:t>
            </a:fld>
            <a:endParaRPr kumimoji="1" lang="ja-JP" altLang="en-US"/>
          </a:p>
        </p:txBody>
      </p:sp>
    </p:spTree>
    <p:extLst>
      <p:ext uri="{BB962C8B-B14F-4D97-AF65-F5344CB8AC3E}">
        <p14:creationId xmlns:p14="http://schemas.microsoft.com/office/powerpoint/2010/main" val="67523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b="1" kern="1200">
          <a:solidFill>
            <a:schemeClr val="tx1"/>
          </a:solidFill>
          <a:latin typeface="Meiryo" panose="020B0604030504040204" pitchFamily="34" charset="-128"/>
          <a:ea typeface="Meiryo" panose="020B0604030504040204" pitchFamily="34" charset="-128"/>
          <a:cs typeface="+mj-cs"/>
        </a:defRPr>
      </a:lvl1pPr>
    </p:titleStyle>
    <p:bodyStyle>
      <a:lvl1pPr marL="0" indent="0" algn="l" defTabSz="914400" rtl="0" eaLnBrk="1" latinLnBrk="0" hangingPunct="1">
        <a:lnSpc>
          <a:spcPct val="110000"/>
        </a:lnSpc>
        <a:spcBef>
          <a:spcPts val="1000"/>
        </a:spcBef>
        <a:buFont typeface="Wingdings" pitchFamily="2" charset="2"/>
        <a:buNone/>
        <a:defRPr kumimoji="1" sz="28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110000"/>
        </a:lnSpc>
        <a:spcBef>
          <a:spcPts val="500"/>
        </a:spcBef>
        <a:buFont typeface="Wingdings" pitchFamily="2" charset="2"/>
        <a:buChar char="Ø"/>
        <a:defRPr kumimoji="1" sz="24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kumimoji="1" sz="20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kumimoji="1" sz="1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stat.go.jp/stat-search/files?page=1&amp;layout=datalist&amp;toukei=00200561&amp;tst%5b&#8230;%5d30001&amp;tclass2=000000330004&amp;tclass3=000000330005&amp;tclass4val=0" TargetMode="External"/><Relationship Id="rId2" Type="http://schemas.openxmlformats.org/officeDocument/2006/relationships/hyperlink" Target="https://www.stat.go.jp/data/kakei/index3.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E4220E-4E56-0ACB-919A-E79A6F7FF2D8}"/>
              </a:ext>
            </a:extLst>
          </p:cNvPr>
          <p:cNvSpPr>
            <a:spLocks noGrp="1"/>
          </p:cNvSpPr>
          <p:nvPr>
            <p:ph type="ctrTitle"/>
          </p:nvPr>
        </p:nvSpPr>
        <p:spPr/>
        <p:txBody>
          <a:bodyPr>
            <a:normAutofit fontScale="90000"/>
          </a:bodyPr>
          <a:lstStyle/>
          <a:p>
            <a:r>
              <a:rPr kumimoji="1" lang="ja-JP" altLang="en-US"/>
              <a:t>データ説明</a:t>
            </a:r>
            <a:r>
              <a:rPr lang="ja-JP" altLang="en-US"/>
              <a:t>および</a:t>
            </a:r>
            <a:br>
              <a:rPr lang="en-US" altLang="ja-JP" dirty="0"/>
            </a:br>
            <a:r>
              <a:rPr lang="ja-JP" altLang="en-US"/>
              <a:t>「問い」の設定、分野の選択</a:t>
            </a:r>
            <a:endParaRPr kumimoji="1" lang="ja-JP" altLang="en-US"/>
          </a:p>
        </p:txBody>
      </p:sp>
      <p:sp>
        <p:nvSpPr>
          <p:cNvPr id="3" name="字幕 2">
            <a:extLst>
              <a:ext uri="{FF2B5EF4-FFF2-40B4-BE49-F238E27FC236}">
                <a16:creationId xmlns:a16="http://schemas.microsoft.com/office/drawing/2014/main" id="{3E042E77-422D-1B7A-C44D-C2BC0BA096C1}"/>
              </a:ext>
            </a:extLst>
          </p:cNvPr>
          <p:cNvSpPr>
            <a:spLocks noGrp="1"/>
          </p:cNvSpPr>
          <p:nvPr>
            <p:ph type="subTitle" idx="1"/>
          </p:nvPr>
        </p:nvSpPr>
        <p:spPr/>
        <p:txBody>
          <a:bodyPr/>
          <a:lstStyle/>
          <a:p>
            <a:r>
              <a:rPr kumimoji="1" lang="en-US" altLang="ja-JP" dirty="0"/>
              <a:t>2025/12/26</a:t>
            </a:r>
          </a:p>
          <a:p>
            <a:r>
              <a:rPr lang="en-US" altLang="ja-JP" dirty="0" err="1"/>
              <a:t>yixuan</a:t>
            </a:r>
            <a:endParaRPr kumimoji="1" lang="ja-JP" altLang="en-US"/>
          </a:p>
        </p:txBody>
      </p:sp>
    </p:spTree>
    <p:extLst>
      <p:ext uri="{BB962C8B-B14F-4D97-AF65-F5344CB8AC3E}">
        <p14:creationId xmlns:p14="http://schemas.microsoft.com/office/powerpoint/2010/main" val="2439585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561825-5764-8C06-8BE7-A04FA32A239B}"/>
              </a:ext>
            </a:extLst>
          </p:cNvPr>
          <p:cNvSpPr>
            <a:spLocks noGrp="1"/>
          </p:cNvSpPr>
          <p:nvPr>
            <p:ph type="title"/>
          </p:nvPr>
        </p:nvSpPr>
        <p:spPr/>
        <p:txBody>
          <a:bodyPr/>
          <a:lstStyle/>
          <a:p>
            <a:r>
              <a:rPr lang="ja-JP" altLang="en-US"/>
              <a:t>データ説明</a:t>
            </a:r>
            <a:endParaRPr kumimoji="1" lang="ja-JP" altLang="en-US"/>
          </a:p>
        </p:txBody>
      </p:sp>
      <p:sp>
        <p:nvSpPr>
          <p:cNvPr id="3" name="コンテンツ プレースホルダー 2">
            <a:extLst>
              <a:ext uri="{FF2B5EF4-FFF2-40B4-BE49-F238E27FC236}">
                <a16:creationId xmlns:a16="http://schemas.microsoft.com/office/drawing/2014/main" id="{99A43CDE-3088-61F9-EDBC-D3D33C86981A}"/>
              </a:ext>
            </a:extLst>
          </p:cNvPr>
          <p:cNvSpPr>
            <a:spLocks noGrp="1"/>
          </p:cNvSpPr>
          <p:nvPr>
            <p:ph idx="1"/>
          </p:nvPr>
        </p:nvSpPr>
        <p:spPr/>
        <p:txBody>
          <a:bodyPr>
            <a:normAutofit fontScale="85000" lnSpcReduction="20000"/>
          </a:bodyPr>
          <a:lstStyle/>
          <a:p>
            <a:r>
              <a:rPr kumimoji="1" lang="ja-JP" altLang="en-US"/>
              <a:t>取扱データ：家計データ</a:t>
            </a:r>
            <a:endParaRPr kumimoji="1" lang="en-US" altLang="ja-JP" dirty="0"/>
          </a:p>
          <a:p>
            <a:r>
              <a:rPr lang="ja-JP" altLang="en-US"/>
              <a:t>データ説明：家計調査は、統計理論に基づき選定された全国約</a:t>
            </a:r>
            <a:r>
              <a:rPr lang="en-US" altLang="ja-JP" dirty="0"/>
              <a:t>9</a:t>
            </a:r>
            <a:r>
              <a:rPr lang="ja-JP" altLang="en-US"/>
              <a:t>千世帯を対象として、家計の収入・支出、貯蓄・負債などを毎月調査しています。</a:t>
            </a:r>
            <a:br>
              <a:rPr lang="ja-JP" altLang="en-US"/>
            </a:br>
            <a:br>
              <a:rPr lang="ja-JP" altLang="en-US"/>
            </a:br>
            <a:r>
              <a:rPr lang="ja-JP" altLang="en-US"/>
              <a:t>　二人以上の世帯の結果は、主に、地域・世帯属性ごとに</a:t>
            </a:r>
            <a:r>
              <a:rPr lang="en-US" altLang="ja-JP" dirty="0"/>
              <a:t>1</a:t>
            </a:r>
            <a:r>
              <a:rPr lang="ja-JP" altLang="en-US"/>
              <a:t>世帯当たり</a:t>
            </a:r>
            <a:r>
              <a:rPr lang="en-US" altLang="ja-JP" dirty="0"/>
              <a:t>1</a:t>
            </a:r>
            <a:r>
              <a:rPr lang="ja-JP" altLang="en-US"/>
              <a:t>か月間の収支金額にまとめ毎月公表、単身世帯及び総世帯の家計収支に関する結果並びに二人以上の世帯の貯蓄・負債に関する結果を四半期ごとに公表しています。</a:t>
            </a:r>
            <a:endParaRPr kumimoji="1" lang="en-US" altLang="ja-JP" dirty="0"/>
          </a:p>
          <a:p>
            <a:r>
              <a:rPr kumimoji="1" lang="ja-JP" altLang="en-US"/>
              <a:t>データ情報源：</a:t>
            </a:r>
            <a:endParaRPr kumimoji="1" lang="en-US" altLang="ja-JP" dirty="0"/>
          </a:p>
          <a:p>
            <a:r>
              <a:rPr lang="ja-JP" altLang="en-US"/>
              <a:t>１、</a:t>
            </a:r>
            <a:r>
              <a:rPr lang="en-US" altLang="ja-JP" dirty="0">
                <a:hlinkClick r:id="rId2"/>
              </a:rPr>
              <a:t>https://www.stat.go.jp/data/kakei/index3.html</a:t>
            </a:r>
            <a:endParaRPr lang="en-US" altLang="ja-JP" dirty="0"/>
          </a:p>
          <a:p>
            <a:r>
              <a:rPr lang="ja-JP" altLang="en-US"/>
              <a:t>２、</a:t>
            </a:r>
            <a:r>
              <a:rPr lang="en-US" altLang="ja-JP" dirty="0">
                <a:hlinkClick r:id="rId3"/>
              </a:rPr>
              <a:t>https://www.e-stat.go.jp/stat-search/files?page=1&amp;layout=datalist&amp;toukei=00200561&amp;tst[…]30001&amp;tclass2=000000330004&amp;tclass3=000000330005&amp;tclass4val=0</a:t>
            </a:r>
            <a:endParaRPr lang="en-US" altLang="ja-JP" dirty="0"/>
          </a:p>
          <a:p>
            <a:endParaRPr kumimoji="1" lang="en-US" altLang="ja-JP" dirty="0"/>
          </a:p>
          <a:p>
            <a:endParaRPr kumimoji="1" lang="en-US" altLang="ja-JP" dirty="0"/>
          </a:p>
          <a:p>
            <a:endParaRPr kumimoji="1" lang="ja-JP" altLang="en-US"/>
          </a:p>
        </p:txBody>
      </p:sp>
    </p:spTree>
    <p:extLst>
      <p:ext uri="{BB962C8B-B14F-4D97-AF65-F5344CB8AC3E}">
        <p14:creationId xmlns:p14="http://schemas.microsoft.com/office/powerpoint/2010/main" val="1396248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1BD13B-9094-D876-9E73-5F63FB900AF6}"/>
              </a:ext>
            </a:extLst>
          </p:cNvPr>
          <p:cNvSpPr>
            <a:spLocks noGrp="1"/>
          </p:cNvSpPr>
          <p:nvPr>
            <p:ph type="title"/>
          </p:nvPr>
        </p:nvSpPr>
        <p:spPr/>
        <p:txBody>
          <a:bodyPr/>
          <a:lstStyle/>
          <a:p>
            <a:r>
              <a:rPr lang="ja-JP" altLang="en-US"/>
              <a:t>データの整理</a:t>
            </a:r>
            <a:endParaRPr kumimoji="1" lang="ja-JP" altLang="en-US"/>
          </a:p>
        </p:txBody>
      </p:sp>
      <p:sp>
        <p:nvSpPr>
          <p:cNvPr id="3" name="コンテンツ プレースホルダー 2">
            <a:extLst>
              <a:ext uri="{FF2B5EF4-FFF2-40B4-BE49-F238E27FC236}">
                <a16:creationId xmlns:a16="http://schemas.microsoft.com/office/drawing/2014/main" id="{855C9F78-46F9-3FDE-54FE-5497D7D80D53}"/>
              </a:ext>
            </a:extLst>
          </p:cNvPr>
          <p:cNvSpPr>
            <a:spLocks noGrp="1"/>
          </p:cNvSpPr>
          <p:nvPr>
            <p:ph idx="1"/>
          </p:nvPr>
        </p:nvSpPr>
        <p:spPr>
          <a:xfrm>
            <a:off x="838200" y="1280161"/>
            <a:ext cx="10515600" cy="3851238"/>
          </a:xfrm>
        </p:spPr>
        <p:txBody>
          <a:bodyPr>
            <a:normAutofit fontScale="85000" lnSpcReduction="20000"/>
          </a:bodyPr>
          <a:lstStyle/>
          <a:p>
            <a:r>
              <a:rPr lang="ja-JP" altLang="en-US"/>
              <a:t>整理期間：</a:t>
            </a:r>
            <a:endParaRPr lang="en-US" altLang="ja-JP" dirty="0"/>
          </a:p>
          <a:p>
            <a:pPr lvl="1"/>
            <a:r>
              <a:rPr kumimoji="1" lang="en-US" altLang="ja-JP" dirty="0"/>
              <a:t>24</a:t>
            </a:r>
            <a:r>
              <a:rPr kumimoji="1" lang="ja-JP" altLang="en-US"/>
              <a:t>時間ポイント</a:t>
            </a:r>
            <a:endParaRPr kumimoji="1" lang="en-US" altLang="ja-JP" dirty="0"/>
          </a:p>
          <a:p>
            <a:pPr lvl="2"/>
            <a:r>
              <a:rPr kumimoji="1" lang="en-US" altLang="ja-JP" dirty="0"/>
              <a:t>2000~2024</a:t>
            </a:r>
            <a:r>
              <a:rPr kumimoji="1" lang="ja-JP" altLang="en-US"/>
              <a:t>年の都道府県ごとにまとめたの年計データ</a:t>
            </a:r>
            <a:endParaRPr kumimoji="1" lang="en-US" altLang="ja-JP" dirty="0"/>
          </a:p>
          <a:p>
            <a:r>
              <a:rPr lang="ja-JP" altLang="en-US"/>
              <a:t>データのフォーマットおよびサイズ</a:t>
            </a:r>
            <a:endParaRPr kumimoji="1" lang="en-US" altLang="ja-JP" dirty="0"/>
          </a:p>
          <a:p>
            <a:pPr lvl="1"/>
            <a:r>
              <a:rPr kumimoji="1" lang="en-US" altLang="ja-JP" dirty="0"/>
              <a:t>Excel-&gt; csv</a:t>
            </a:r>
            <a:r>
              <a:rPr kumimoji="1" lang="ja-JP" altLang="en-US"/>
              <a:t>への変換は完成しました（共有ができます）</a:t>
            </a:r>
            <a:endParaRPr kumimoji="1" lang="en-US" altLang="ja-JP" dirty="0"/>
          </a:p>
          <a:p>
            <a:pPr lvl="1"/>
            <a:r>
              <a:rPr lang="en-US" altLang="ja-JP" dirty="0"/>
              <a:t>Csv</a:t>
            </a:r>
            <a:r>
              <a:rPr lang="ja-JP" altLang="en-US"/>
              <a:t>ファイルは年ごとに</a:t>
            </a:r>
            <a:r>
              <a:rPr lang="en-US" altLang="ja-JP" dirty="0"/>
              <a:t>54kb</a:t>
            </a:r>
            <a:r>
              <a:rPr lang="ja-JP" altLang="en-US"/>
              <a:t>ぐらい</a:t>
            </a:r>
            <a:endParaRPr lang="en-US" altLang="ja-JP" dirty="0"/>
          </a:p>
          <a:p>
            <a:pPr lvl="1"/>
            <a:r>
              <a:rPr kumimoji="1" lang="ja-JP" altLang="en-US"/>
              <a:t>二人世帯以上のデータは毎年安定にある</a:t>
            </a:r>
            <a:endParaRPr kumimoji="1" lang="en-US" altLang="ja-JP" dirty="0"/>
          </a:p>
          <a:p>
            <a:pPr lvl="1"/>
            <a:r>
              <a:rPr lang="ja-JP" altLang="en-US"/>
              <a:t>独身はやや欠損している</a:t>
            </a:r>
            <a:endParaRPr lang="en-US" altLang="ja-JP" dirty="0"/>
          </a:p>
          <a:p>
            <a:r>
              <a:rPr kumimoji="1" lang="ja-JP" altLang="en-US"/>
              <a:t>年、都道府県ごとのデータ以外、時系列データも提供されている（全世帯、二世帯以上、独身は全てあり）</a:t>
            </a:r>
            <a:endParaRPr kumimoji="1" lang="en-US" altLang="ja-JP" dirty="0"/>
          </a:p>
          <a:p>
            <a:pPr lvl="1"/>
            <a:endParaRPr kumimoji="1" lang="ja-JP" altLang="en-US"/>
          </a:p>
        </p:txBody>
      </p:sp>
      <p:pic>
        <p:nvPicPr>
          <p:cNvPr id="4" name="図 3">
            <a:extLst>
              <a:ext uri="{FF2B5EF4-FFF2-40B4-BE49-F238E27FC236}">
                <a16:creationId xmlns:a16="http://schemas.microsoft.com/office/drawing/2014/main" id="{A6EFF68D-C259-0F9D-0B12-6A32F9241577}"/>
              </a:ext>
            </a:extLst>
          </p:cNvPr>
          <p:cNvPicPr>
            <a:picLocks noChangeAspect="1"/>
          </p:cNvPicPr>
          <p:nvPr/>
        </p:nvPicPr>
        <p:blipFill>
          <a:blip r:embed="rId2"/>
          <a:stretch>
            <a:fillRect/>
          </a:stretch>
        </p:blipFill>
        <p:spPr>
          <a:xfrm>
            <a:off x="1979407" y="4797912"/>
            <a:ext cx="6862482" cy="1869049"/>
          </a:xfrm>
          <a:prstGeom prst="rect">
            <a:avLst/>
          </a:prstGeom>
        </p:spPr>
      </p:pic>
    </p:spTree>
    <p:extLst>
      <p:ext uri="{BB962C8B-B14F-4D97-AF65-F5344CB8AC3E}">
        <p14:creationId xmlns:p14="http://schemas.microsoft.com/office/powerpoint/2010/main" val="3582293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7D7A78-9912-5381-1074-77B3E25513A0}"/>
              </a:ext>
            </a:extLst>
          </p:cNvPr>
          <p:cNvSpPr>
            <a:spLocks noGrp="1"/>
          </p:cNvSpPr>
          <p:nvPr>
            <p:ph type="title"/>
          </p:nvPr>
        </p:nvSpPr>
        <p:spPr/>
        <p:txBody>
          <a:bodyPr/>
          <a:lstStyle/>
          <a:p>
            <a:r>
              <a:rPr lang="ja-JP" altLang="en-US"/>
              <a:t>サンプル</a:t>
            </a:r>
            <a:endParaRPr kumimoji="1" lang="ja-JP" altLang="en-US"/>
          </a:p>
        </p:txBody>
      </p:sp>
      <p:sp>
        <p:nvSpPr>
          <p:cNvPr id="3" name="コンテンツ プレースホルダー 2">
            <a:extLst>
              <a:ext uri="{FF2B5EF4-FFF2-40B4-BE49-F238E27FC236}">
                <a16:creationId xmlns:a16="http://schemas.microsoft.com/office/drawing/2014/main" id="{30BC8195-5DC3-5BE2-65B5-E0ECA17EF19A}"/>
              </a:ext>
            </a:extLst>
          </p:cNvPr>
          <p:cNvSpPr>
            <a:spLocks noGrp="1"/>
          </p:cNvSpPr>
          <p:nvPr>
            <p:ph idx="1"/>
          </p:nvPr>
        </p:nvSpPr>
        <p:spPr/>
        <p:txBody>
          <a:bodyPr/>
          <a:lstStyle/>
          <a:p>
            <a:r>
              <a:rPr kumimoji="1" lang="ja-JP" altLang="en-US"/>
              <a:t>利用データ：年計都道府県ごとのデータ</a:t>
            </a:r>
            <a:endParaRPr kumimoji="1" lang="en-US" altLang="ja-JP" dirty="0"/>
          </a:p>
          <a:p>
            <a:r>
              <a:rPr kumimoji="1" lang="ja-JP" altLang="en-US"/>
              <a:t>計算手法：</a:t>
            </a:r>
            <a:endParaRPr kumimoji="1" lang="en-US" altLang="ja-JP" dirty="0"/>
          </a:p>
          <a:p>
            <a:pPr lvl="1"/>
            <a:r>
              <a:rPr kumimoji="1" lang="ja-JP" altLang="en-US"/>
              <a:t>全国毎年１００００世帯を抽出している</a:t>
            </a:r>
            <a:endParaRPr kumimoji="1" lang="en-US" altLang="ja-JP" dirty="0"/>
          </a:p>
          <a:p>
            <a:pPr lvl="1"/>
            <a:r>
              <a:rPr kumimoji="1" lang="ja-JP" altLang="en-US"/>
              <a:t>世帯ごと平均</a:t>
            </a:r>
            <a:r>
              <a:rPr kumimoji="1" lang="en-US" altLang="ja-JP" dirty="0"/>
              <a:t>3.2</a:t>
            </a:r>
            <a:r>
              <a:rPr kumimoji="1" lang="ja-JP" altLang="en-US"/>
              <a:t>人が含まれている</a:t>
            </a:r>
            <a:endParaRPr lang="en-US" altLang="ja-JP" dirty="0"/>
          </a:p>
          <a:p>
            <a:pPr lvl="1"/>
            <a:r>
              <a:rPr lang="ja-JP" altLang="en-US"/>
              <a:t>人口が五万人以上の都市のサンプルは７０％</a:t>
            </a:r>
            <a:r>
              <a:rPr lang="en-US" altLang="ja-JP" dirty="0"/>
              <a:t>〜</a:t>
            </a:r>
            <a:r>
              <a:rPr lang="ja-JP" altLang="en-US"/>
              <a:t>８０％で占めている</a:t>
            </a:r>
            <a:endParaRPr lang="en-US" altLang="ja-JP" dirty="0"/>
          </a:p>
          <a:p>
            <a:pPr lvl="1"/>
            <a:r>
              <a:rPr lang="ja-JP" altLang="en-US"/>
              <a:t>首都圏：やく２０００世帯</a:t>
            </a:r>
            <a:endParaRPr lang="en-US" altLang="ja-JP" dirty="0"/>
          </a:p>
          <a:p>
            <a:pPr lvl="1"/>
            <a:r>
              <a:rPr lang="ja-JP" altLang="en-US"/>
              <a:t>近畿（京阪神）：やく１４００世帯</a:t>
            </a:r>
            <a:endParaRPr lang="en-US" altLang="ja-JP" dirty="0"/>
          </a:p>
          <a:p>
            <a:pPr lvl="1"/>
            <a:r>
              <a:rPr lang="ja-JP" altLang="en-US"/>
              <a:t>平均年齢：５０歳前後</a:t>
            </a:r>
            <a:endParaRPr lang="en-US" altLang="ja-JP" dirty="0"/>
          </a:p>
          <a:p>
            <a:endParaRPr kumimoji="1" lang="en-US" altLang="ja-JP" dirty="0"/>
          </a:p>
          <a:p>
            <a:endParaRPr kumimoji="1" lang="ja-JP" altLang="en-US"/>
          </a:p>
        </p:txBody>
      </p:sp>
    </p:spTree>
    <p:extLst>
      <p:ext uri="{BB962C8B-B14F-4D97-AF65-F5344CB8AC3E}">
        <p14:creationId xmlns:p14="http://schemas.microsoft.com/office/powerpoint/2010/main" val="90587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5212DB-58A8-2903-1871-D4C57E89B33B}"/>
              </a:ext>
            </a:extLst>
          </p:cNvPr>
          <p:cNvSpPr>
            <a:spLocks noGrp="1"/>
          </p:cNvSpPr>
          <p:nvPr>
            <p:ph type="title"/>
          </p:nvPr>
        </p:nvSpPr>
        <p:spPr/>
        <p:txBody>
          <a:bodyPr>
            <a:normAutofit/>
          </a:bodyPr>
          <a:lstStyle/>
          <a:p>
            <a:r>
              <a:rPr lang="ja-JP" altLang="en-US"/>
              <a:t>毎年安定に統計する品目：   </a:t>
            </a:r>
            <a:endParaRPr kumimoji="1" lang="ja-JP" altLang="en-US"/>
          </a:p>
        </p:txBody>
      </p:sp>
      <p:pic>
        <p:nvPicPr>
          <p:cNvPr id="5" name="コンテンツ プレースホルダー 4">
            <a:extLst>
              <a:ext uri="{FF2B5EF4-FFF2-40B4-BE49-F238E27FC236}">
                <a16:creationId xmlns:a16="http://schemas.microsoft.com/office/drawing/2014/main" id="{B6B70727-F310-80A3-04DA-D1A74582EFD1}"/>
              </a:ext>
            </a:extLst>
          </p:cNvPr>
          <p:cNvPicPr>
            <a:picLocks noGrp="1" noChangeAspect="1"/>
          </p:cNvPicPr>
          <p:nvPr>
            <p:ph idx="1"/>
          </p:nvPr>
        </p:nvPicPr>
        <p:blipFill>
          <a:blip r:embed="rId2"/>
          <a:stretch>
            <a:fillRect/>
          </a:stretch>
        </p:blipFill>
        <p:spPr>
          <a:xfrm>
            <a:off x="2929701" y="1183025"/>
            <a:ext cx="7559681" cy="4897438"/>
          </a:xfrm>
          <a:prstGeom prst="rect">
            <a:avLst/>
          </a:prstGeom>
        </p:spPr>
      </p:pic>
      <p:pic>
        <p:nvPicPr>
          <p:cNvPr id="4" name="図 3">
            <a:extLst>
              <a:ext uri="{FF2B5EF4-FFF2-40B4-BE49-F238E27FC236}">
                <a16:creationId xmlns:a16="http://schemas.microsoft.com/office/drawing/2014/main" id="{73BC6B89-C830-3B9A-4186-ADC3BEB39EA7}"/>
              </a:ext>
            </a:extLst>
          </p:cNvPr>
          <p:cNvPicPr>
            <a:picLocks noChangeAspect="1"/>
          </p:cNvPicPr>
          <p:nvPr/>
        </p:nvPicPr>
        <p:blipFill>
          <a:blip r:embed="rId3"/>
          <a:stretch>
            <a:fillRect/>
          </a:stretch>
        </p:blipFill>
        <p:spPr>
          <a:xfrm>
            <a:off x="944214" y="1183342"/>
            <a:ext cx="1462436" cy="4896803"/>
          </a:xfrm>
          <a:prstGeom prst="rect">
            <a:avLst/>
          </a:prstGeom>
        </p:spPr>
      </p:pic>
    </p:spTree>
    <p:extLst>
      <p:ext uri="{BB962C8B-B14F-4D97-AF65-F5344CB8AC3E}">
        <p14:creationId xmlns:p14="http://schemas.microsoft.com/office/powerpoint/2010/main" val="3011436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7A17F-6EC1-B49C-721B-20D81F032A7C}"/>
              </a:ext>
            </a:extLst>
          </p:cNvPr>
          <p:cNvSpPr>
            <a:spLocks noGrp="1"/>
          </p:cNvSpPr>
          <p:nvPr>
            <p:ph type="title"/>
          </p:nvPr>
        </p:nvSpPr>
        <p:spPr/>
        <p:txBody>
          <a:bodyPr/>
          <a:lstStyle/>
          <a:p>
            <a:r>
              <a:rPr kumimoji="1" lang="ja-JP" altLang="en-US"/>
              <a:t>現状まとめ</a:t>
            </a:r>
          </a:p>
        </p:txBody>
      </p:sp>
      <p:sp>
        <p:nvSpPr>
          <p:cNvPr id="3" name="コンテンツ プレースホルダー 2">
            <a:extLst>
              <a:ext uri="{FF2B5EF4-FFF2-40B4-BE49-F238E27FC236}">
                <a16:creationId xmlns:a16="http://schemas.microsoft.com/office/drawing/2014/main" id="{61F55EAF-D7C2-026F-0CA3-83186320D334}"/>
              </a:ext>
            </a:extLst>
          </p:cNvPr>
          <p:cNvSpPr>
            <a:spLocks noGrp="1"/>
          </p:cNvSpPr>
          <p:nvPr>
            <p:ph idx="1"/>
          </p:nvPr>
        </p:nvSpPr>
        <p:spPr/>
        <p:txBody>
          <a:bodyPr/>
          <a:lstStyle/>
          <a:p>
            <a:r>
              <a:rPr kumimoji="1" lang="ja-JP" altLang="en-US"/>
              <a:t>品目のデータの時系列は少なくとも２５ポイント数があり</a:t>
            </a:r>
            <a:endParaRPr kumimoji="1" lang="en-US" altLang="ja-JP" dirty="0"/>
          </a:p>
          <a:p>
            <a:r>
              <a:rPr lang="ja-JP" altLang="en-US"/>
              <a:t>時系列は簡単に書けます</a:t>
            </a:r>
            <a:endParaRPr lang="en-US" altLang="ja-JP" dirty="0"/>
          </a:p>
          <a:p>
            <a:r>
              <a:rPr kumimoji="1" lang="ja-JP" altLang="en-US"/>
              <a:t>問題はどのような問題を調べた</a:t>
            </a:r>
            <a:r>
              <a:rPr lang="ja-JP" altLang="en-US"/>
              <a:t>い</a:t>
            </a:r>
            <a:endParaRPr lang="en-US" altLang="ja-JP" dirty="0"/>
          </a:p>
          <a:p>
            <a:r>
              <a:rPr kumimoji="1" lang="ja-JP" altLang="en-US"/>
              <a:t>考えられるのは：</a:t>
            </a:r>
            <a:endParaRPr kumimoji="1" lang="en-US" altLang="ja-JP" dirty="0"/>
          </a:p>
          <a:p>
            <a:r>
              <a:rPr lang="ja-JP" altLang="en-US"/>
              <a:t>消費結構の変化（しんせい</a:t>
            </a:r>
            <a:endParaRPr lang="en-US" altLang="ja-JP" dirty="0"/>
          </a:p>
          <a:p>
            <a:r>
              <a:rPr kumimoji="1" lang="ja-JP" altLang="en-US"/>
              <a:t>外部からの刺激</a:t>
            </a:r>
            <a:r>
              <a:rPr kumimoji="1" lang="en-US" altLang="ja-JP" dirty="0"/>
              <a:t>CPI</a:t>
            </a:r>
          </a:p>
          <a:p>
            <a:r>
              <a:rPr lang="ja-JP" altLang="en-US"/>
              <a:t>趣味代</a:t>
            </a:r>
            <a:endParaRPr kumimoji="1" lang="en-US" altLang="ja-JP" dirty="0"/>
          </a:p>
        </p:txBody>
      </p:sp>
    </p:spTree>
    <p:extLst>
      <p:ext uri="{BB962C8B-B14F-4D97-AF65-F5344CB8AC3E}">
        <p14:creationId xmlns:p14="http://schemas.microsoft.com/office/powerpoint/2010/main" val="271224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FAA397-98F0-8D33-F0E7-1796E365050E}"/>
              </a:ext>
            </a:extLst>
          </p:cNvPr>
          <p:cNvSpPr>
            <a:spLocks noGrp="1"/>
          </p:cNvSpPr>
          <p:nvPr>
            <p:ph type="title"/>
          </p:nvPr>
        </p:nvSpPr>
        <p:spPr/>
        <p:txBody>
          <a:bodyPr/>
          <a:lstStyle/>
          <a:p>
            <a:r>
              <a:rPr lang="en-US" altLang="ja-JP" dirty="0"/>
              <a:t>Weber</a:t>
            </a:r>
            <a:endParaRPr kumimoji="1" lang="ja-JP" altLang="en-US"/>
          </a:p>
        </p:txBody>
      </p:sp>
      <p:pic>
        <p:nvPicPr>
          <p:cNvPr id="4" name="コンテンツ プレースホルダー 3">
            <a:extLst>
              <a:ext uri="{FF2B5EF4-FFF2-40B4-BE49-F238E27FC236}">
                <a16:creationId xmlns:a16="http://schemas.microsoft.com/office/drawing/2014/main" id="{BF41EEED-E4D8-5231-0F00-809D3CB67BBD}"/>
              </a:ext>
            </a:extLst>
          </p:cNvPr>
          <p:cNvPicPr>
            <a:picLocks noGrp="1" noChangeAspect="1"/>
          </p:cNvPicPr>
          <p:nvPr>
            <p:ph idx="1"/>
          </p:nvPr>
        </p:nvPicPr>
        <p:blipFill>
          <a:blip r:embed="rId2"/>
          <a:stretch>
            <a:fillRect/>
          </a:stretch>
        </p:blipFill>
        <p:spPr>
          <a:xfrm>
            <a:off x="984250" y="1931194"/>
            <a:ext cx="10223500" cy="3594100"/>
          </a:xfrm>
          <a:prstGeom prst="rect">
            <a:avLst/>
          </a:prstGeom>
        </p:spPr>
      </p:pic>
    </p:spTree>
    <p:extLst>
      <p:ext uri="{BB962C8B-B14F-4D97-AF65-F5344CB8AC3E}">
        <p14:creationId xmlns:p14="http://schemas.microsoft.com/office/powerpoint/2010/main" val="22020107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TotalTime>
  <Words>389</Words>
  <Application>Microsoft Macintosh PowerPoint</Application>
  <PresentationFormat>ワイド画面</PresentationFormat>
  <Paragraphs>39</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Meiryo</vt:lpstr>
      <vt:lpstr>游ゴシック</vt:lpstr>
      <vt:lpstr>Arial</vt:lpstr>
      <vt:lpstr>Wingdings</vt:lpstr>
      <vt:lpstr>Office テーマ</vt:lpstr>
      <vt:lpstr>データ説明および 「問い」の設定、分野の選択</vt:lpstr>
      <vt:lpstr>データ説明</vt:lpstr>
      <vt:lpstr>データの整理</vt:lpstr>
      <vt:lpstr>サンプル</vt:lpstr>
      <vt:lpstr>毎年安定に統計する品目：   </vt:lpstr>
      <vt:lpstr>現状まとめ</vt:lpstr>
      <vt:lpstr>Weber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office user</dc:creator>
  <cp:lastModifiedBy>office user</cp:lastModifiedBy>
  <cp:revision>4</cp:revision>
  <dcterms:created xsi:type="dcterms:W3CDTF">2025-12-26T05:13:06Z</dcterms:created>
  <dcterms:modified xsi:type="dcterms:W3CDTF">2025-12-26T06:38:25Z</dcterms:modified>
</cp:coreProperties>
</file>