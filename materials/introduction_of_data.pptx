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4" r:id="rId7"/>
    <p:sldId id="265" r:id="rId8"/>
    <p:sldId id="262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673"/>
  </p:normalViewPr>
  <p:slideViewPr>
    <p:cSldViewPr snapToGrid="0">
      <p:cViewPr varScale="1">
        <p:scale>
          <a:sx n="109" d="100"/>
          <a:sy n="109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C3F61-0C19-3C7F-5260-9935C707A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437154-009A-B1DA-8D4C-887BF3B0E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BDBC8-6CE5-9CDB-BFB2-CF92F8EF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26A995-3D1B-510F-9FE4-8FF403212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77D0A0-EAF1-2C56-0AE3-035B8008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16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8F8E8-3092-E720-CF45-EB6B843E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68D8F5-C9A0-8DD5-5E18-DBCE17A10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678FAD-2697-27AA-4CB4-940033FC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B7752C-FA71-00A4-2CBE-FEDFC5CD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A98402-2224-91D4-5ABA-F0795FE0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44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8BF0B-25F5-51EA-4318-FB71E3DB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74D175-22C7-067F-7D0E-B8FC0652A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F3E66B-CDB9-C44E-B581-8F34CCF5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B2E319-C7E0-92D6-EBF4-5E23D55E8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E9D0B2-DCCD-48C7-E8B5-5864B0ED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4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3378F0-E1D1-ACC0-D1CC-BB6D9821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E35075-8AC6-E06B-B45D-EB7E95BBC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4E686D-89BA-A7C2-F662-56BB9AF85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285A93-5A37-898D-E0DC-9A131EDA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1FCA9D-F995-6286-82E3-3723AC1A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73FEA4-3C2A-E8AF-EBDA-8E4D76B7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100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5323ED-E43B-0B60-E71C-269B7E98B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FFCD1-1CA2-D7FD-69DE-0A219D18E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5BBBF7-CC30-6B35-1E47-14D550494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2ABBA21-9163-CD45-BDF4-37ED0B911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92978FF-158D-63B1-B6C9-DD44310B1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736358-0A12-06B4-15FB-EAA44B3E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29E24A1-3FDD-A875-5951-EDCE13DB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C95971-FB34-A266-1581-EBB25E4A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67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0670A-368D-7AE4-5F49-923FF00BC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353DD6F-7450-9800-A668-950CF6C4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8B4785-C462-D0B9-9318-F14D1038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F145F74-08D6-0CC9-EC6B-C732F8A9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537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E5E267-0F1D-8DF8-5284-50AA8A91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DF1739-CCA8-5086-D311-B6269872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4DCEED-CCB1-C3B4-4432-FE772B185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55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3C2F29-EBCD-62C4-AC30-F5698152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39B367-0F42-8AE5-F001-40F017FF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AD6581A-9B16-88A3-4667-FBF0DA8A3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6FD75E-8F1D-E546-6A38-C9EA5A4E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8F416E-F1A8-EB5E-8B24-61CCA2F3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699910-3D5E-B0C2-EBCD-406091B2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20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2FB1A6-F2B7-410F-FBE3-FE116D50C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AA80BEB-F47E-F2C6-B5AC-9D6A33641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BA8ECC-42A3-6363-20FF-E7A5B29A0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A65410-5773-00E8-549C-25AE9D84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26213E-B361-30EE-A34B-F64CC102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D2948F-4536-A079-1DC1-F5B8EE2F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20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872C87-D71E-06DC-B0BC-DCB2F81B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C0D701-3818-4D30-A93E-DBFC95EE9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38B69A-DC14-84AD-CA97-DDB97CA94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87DF6-D93B-1552-A4C6-EEC46733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B915F8-D26B-136E-B257-39FF662D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579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87CA379-6A1E-D220-642C-6893FF974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5859911-7B7B-FD59-A9A1-DF021164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755D2-BB45-1E95-39DA-A3EEAB41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FA1199-1796-6CEE-2834-9651D1DD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3D2DEC-B381-8DB5-C8B7-B5509DB91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93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6935A4-4EBA-DD07-A8F2-6DF4F874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D932A7-64D6-D45F-F1F5-9A654565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80160"/>
            <a:ext cx="10515600" cy="489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6FDCE0-693B-0599-F6BF-43281219E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5107C-790F-1143-90D7-703168B1D5A3}" type="datetimeFigureOut">
              <a:rPr kumimoji="1" lang="ja-JP" altLang="en-US" smtClean="0"/>
              <a:t>2026/1/7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FCD761-C0A6-598E-E3FA-4DFA47CF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03CEB-B280-05DE-6729-CC24C3B93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91F30-9FCB-5B45-9812-F8C78A9101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52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Wingdings" pitchFamily="2" charset="2"/>
        <a:buNone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Wingdings" pitchFamily="2" charset="2"/>
        <a:buChar char="Ø"/>
        <a:defRPr kumimoji="1" sz="2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-stat.go.jp/stat-search/files?page=1&amp;layout=datalist&amp;toukei=00200561&amp;tst%5b&#8230;%5d30001&amp;tclass2=000000330004&amp;tclass3=000000330005&amp;tclass4val=0" TargetMode="External"/><Relationship Id="rId2" Type="http://schemas.openxmlformats.org/officeDocument/2006/relationships/hyperlink" Target="https://www.stat.go.jp/data/kakei/index3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rofile/Hajime-Koik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4220E-4E56-0ACB-919A-E79A6F7FF2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Introduction of data </a:t>
            </a:r>
            <a:br>
              <a:rPr kumimoji="1" lang="en-US" altLang="ja-JP" dirty="0"/>
            </a:br>
            <a:r>
              <a:rPr kumimoji="1" lang="en-US" altLang="ja-JP" dirty="0"/>
              <a:t>&amp; Research question </a:t>
            </a:r>
            <a:br>
              <a:rPr kumimoji="1" lang="en-US" altLang="ja-JP" dirty="0"/>
            </a:br>
            <a:r>
              <a:rPr lang="en-US" altLang="ja-JP" dirty="0"/>
              <a:t>&amp;</a:t>
            </a:r>
            <a:r>
              <a:rPr kumimoji="1" lang="en-US" altLang="ja-JP" dirty="0"/>
              <a:t> Research field 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042E77-422D-1B7A-C44D-C2BC0BA096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2025/</a:t>
            </a:r>
            <a:r>
              <a:rPr kumimoji="1" lang="en-US" altLang="zh-CN" dirty="0"/>
              <a:t>01</a:t>
            </a:r>
            <a:r>
              <a:rPr kumimoji="1" lang="en-US" altLang="ja-JP" dirty="0"/>
              <a:t>/</a:t>
            </a:r>
            <a:r>
              <a:rPr kumimoji="1" lang="en-US" altLang="zh-CN" dirty="0"/>
              <a:t>05</a:t>
            </a:r>
            <a:endParaRPr kumimoji="1" lang="en-US" altLang="ja-JP" dirty="0"/>
          </a:p>
          <a:p>
            <a:r>
              <a:rPr lang="en-US" altLang="ja-JP" dirty="0" err="1"/>
              <a:t>yixuan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58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61825-5764-8C06-8BE7-A04FA32A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90" y="365126"/>
            <a:ext cx="10985810" cy="818216"/>
          </a:xfrm>
        </p:spPr>
        <p:txBody>
          <a:bodyPr/>
          <a:lstStyle/>
          <a:p>
            <a:r>
              <a:rPr lang="en-US" altLang="ja-JP" dirty="0"/>
              <a:t>Data introduction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A43CDE-3088-61F9-EDBC-D3D33C869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990" y="1280160"/>
            <a:ext cx="11541512" cy="5212714"/>
          </a:xfrm>
        </p:spPr>
        <p:txBody>
          <a:bodyPr>
            <a:normAutofit fontScale="92500" lnSpcReduction="20000"/>
          </a:bodyPr>
          <a:lstStyle/>
          <a:p>
            <a:r>
              <a:rPr lang="en-US" altLang="ja-JP" b="1" dirty="0"/>
              <a:t>Data Type</a:t>
            </a:r>
          </a:p>
          <a:p>
            <a:r>
              <a:rPr lang="en-US" altLang="ja-JP" dirty="0"/>
              <a:t>Household financial data</a:t>
            </a:r>
          </a:p>
          <a:p>
            <a:r>
              <a:rPr lang="en-US" altLang="ja-JP" b="1" dirty="0"/>
              <a:t>Data Description</a:t>
            </a:r>
          </a:p>
          <a:p>
            <a:r>
              <a:rPr lang="en-US" altLang="ja-JP" dirty="0"/>
              <a:t>The Household Survey is a comprehensive statistical study that:</a:t>
            </a:r>
          </a:p>
          <a:p>
            <a:pPr lvl="1"/>
            <a:r>
              <a:rPr lang="en-US" altLang="ja-JP" b="1" dirty="0"/>
              <a:t>Sample size</a:t>
            </a:r>
            <a:r>
              <a:rPr lang="en-US" altLang="ja-JP" dirty="0"/>
              <a:t>: Approximately </a:t>
            </a:r>
            <a:r>
              <a:rPr lang="en-US" altLang="zh-CN" dirty="0"/>
              <a:t>10</a:t>
            </a:r>
            <a:r>
              <a:rPr lang="en-US" altLang="ja-JP" dirty="0"/>
              <a:t>,000 households Japanese </a:t>
            </a:r>
            <a:r>
              <a:rPr lang="en-US" altLang="ja-JP" b="1" dirty="0">
                <a:solidFill>
                  <a:srgbClr val="FF0000"/>
                </a:solidFill>
              </a:rPr>
              <a:t>nationwide </a:t>
            </a:r>
            <a:r>
              <a:rPr lang="en-US" altLang="ja-JP" dirty="0"/>
              <a:t>selected</a:t>
            </a:r>
          </a:p>
          <a:p>
            <a:pPr lvl="1"/>
            <a:r>
              <a:rPr lang="en-US" altLang="ja-JP" b="1" dirty="0"/>
              <a:t>Survey scope</a:t>
            </a:r>
            <a:r>
              <a:rPr lang="en-US" altLang="ja-JP" dirty="0"/>
              <a:t>: </a:t>
            </a:r>
            <a:r>
              <a:rPr lang="en-US" altLang="ja-JP" b="1" dirty="0">
                <a:solidFill>
                  <a:srgbClr val="FF0000"/>
                </a:solidFill>
              </a:rPr>
              <a:t>Monthly</a:t>
            </a:r>
            <a:r>
              <a:rPr lang="en-US" altLang="ja-JP" dirty="0"/>
              <a:t> collection of </a:t>
            </a:r>
            <a:r>
              <a:rPr lang="en-US" altLang="ja-JP" b="1" dirty="0">
                <a:solidFill>
                  <a:srgbClr val="FF0000"/>
                </a:solidFill>
              </a:rPr>
              <a:t>household income</a:t>
            </a:r>
            <a:r>
              <a:rPr lang="en-US" altLang="ja-JP" dirty="0">
                <a:solidFill>
                  <a:srgbClr val="FF0000"/>
                </a:solidFill>
              </a:rPr>
              <a:t>, </a:t>
            </a:r>
            <a:r>
              <a:rPr lang="en-US" altLang="ja-JP" b="1" dirty="0">
                <a:solidFill>
                  <a:srgbClr val="FF0000"/>
                </a:solidFill>
              </a:rPr>
              <a:t>expenditure to different categories.</a:t>
            </a:r>
            <a:endParaRPr lang="en-US" altLang="ja-JP" dirty="0">
              <a:solidFill>
                <a:srgbClr val="FF0000"/>
              </a:solidFill>
            </a:endParaRPr>
          </a:p>
          <a:p>
            <a:pPr lvl="1"/>
            <a:r>
              <a:rPr lang="en-US" altLang="ja-JP" b="1" dirty="0"/>
              <a:t>Other information</a:t>
            </a:r>
            <a:r>
              <a:rPr lang="en-US" altLang="ja-JP" dirty="0"/>
              <a:t>: </a:t>
            </a:r>
            <a:r>
              <a:rPr lang="en-US" altLang="ja-JP" b="1" u="sng" dirty="0"/>
              <a:t>single and family</a:t>
            </a:r>
            <a:r>
              <a:rPr lang="en-US" altLang="ja-JP" dirty="0"/>
              <a:t> householders are separated; part of </a:t>
            </a:r>
            <a:r>
              <a:rPr lang="en-US" altLang="ja-JP" b="1" u="sng" dirty="0"/>
              <a:t>income</a:t>
            </a:r>
            <a:r>
              <a:rPr lang="en-US" altLang="ja-JP" dirty="0"/>
              <a:t> are published.</a:t>
            </a:r>
          </a:p>
          <a:p>
            <a:r>
              <a:rPr lang="ja-JP" altLang="en-US" sz="1900"/>
              <a:t>１、</a:t>
            </a:r>
            <a:r>
              <a:rPr lang="en-US" altLang="ja-JP" sz="1900" dirty="0">
                <a:hlinkClick r:id="rId2"/>
              </a:rPr>
              <a:t>https://www.stat.go.jp/data/kakei/index3.html</a:t>
            </a:r>
            <a:endParaRPr lang="en-US" altLang="ja-JP" sz="1900" dirty="0"/>
          </a:p>
          <a:p>
            <a:r>
              <a:rPr lang="ja-JP" altLang="en-US" sz="1900"/>
              <a:t>２、</a:t>
            </a:r>
            <a:r>
              <a:rPr lang="en-US" altLang="ja-JP" sz="1900" dirty="0">
                <a:hlinkClick r:id="rId3"/>
              </a:rPr>
              <a:t>https://www.e-stat.go.jp/stat-search/files?page=1&amp;layout=datalist&amp;toukei=00200561&amp;tst[…]30001&amp;tclass2=000000330004&amp;tclass3=000000330005&amp;tclass4val=0</a:t>
            </a:r>
            <a:endParaRPr lang="en-US" altLang="ja-JP" sz="1900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2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7D7A78-9912-5381-1074-77B3E255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Sample data description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BC8195-5DC3-5BE2-65B5-E0ECA17EF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Each family contains 3.2 people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Big cities contains 70% to 80% percentile national wide (big city means population size over 50,000)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For example, in 10,000 families, around 4000 (40%) families are from Tokyo and Osaka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The average householder age : 50 years old</a:t>
            </a:r>
          </a:p>
          <a:p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8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212DB-58A8-2903-1871-D4C57E89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/>
              <a:t>Categories been </a:t>
            </a:r>
            <a:r>
              <a:rPr lang="en-US" altLang="ja-JP" dirty="0" err="1"/>
              <a:t>statisticed</a:t>
            </a:r>
            <a:r>
              <a:rPr lang="en-US" altLang="ja-JP" dirty="0"/>
              <a:t> continuously:</a:t>
            </a:r>
            <a:r>
              <a:rPr lang="ja-JP" altLang="en-US"/>
              <a:t>   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BC6B89-C830-3B9A-4186-ADC3BEB39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25" y="1461577"/>
            <a:ext cx="1462436" cy="489680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FC2F9C3-8E0A-CA7C-0241-778016539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82" y="1327083"/>
            <a:ext cx="5798635" cy="503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36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A51FFE-A4B6-8A92-5381-5244762B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 the data looks like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8F6B7BC-FC33-E85F-B42E-9C930FF30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76" y="1183342"/>
            <a:ext cx="7772400" cy="533939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8848FB-B0E5-BF1C-C94E-3D69848B2CB7}"/>
              </a:ext>
            </a:extLst>
          </p:cNvPr>
          <p:cNvSpPr/>
          <p:nvPr/>
        </p:nvSpPr>
        <p:spPr>
          <a:xfrm>
            <a:off x="3415229" y="1333041"/>
            <a:ext cx="5012675" cy="209320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910F4B-E661-9D96-7F4A-69FCDFF25952}"/>
              </a:ext>
            </a:extLst>
          </p:cNvPr>
          <p:cNvSpPr txBox="1"/>
          <p:nvPr/>
        </p:nvSpPr>
        <p:spPr>
          <a:xfrm>
            <a:off x="8569293" y="12329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Month</a:t>
            </a:r>
            <a:endParaRPr kumimoji="1" lang="ja-JP" altLang="en-US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9F65DC0-C29C-14CE-38DE-8BBF875EA2E3}"/>
              </a:ext>
            </a:extLst>
          </p:cNvPr>
          <p:cNvSpPr/>
          <p:nvPr/>
        </p:nvSpPr>
        <p:spPr>
          <a:xfrm>
            <a:off x="643876" y="2203373"/>
            <a:ext cx="2771353" cy="220337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8105247-9723-F120-8C99-B044DF6CCA8A}"/>
              </a:ext>
            </a:extLst>
          </p:cNvPr>
          <p:cNvCxnSpPr>
            <a:stCxn id="7" idx="3"/>
          </p:cNvCxnSpPr>
          <p:nvPr/>
        </p:nvCxnSpPr>
        <p:spPr>
          <a:xfrm>
            <a:off x="3415229" y="3305060"/>
            <a:ext cx="52770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41875A-6F65-D3BA-5956-AC234B70A816}"/>
              </a:ext>
            </a:extLst>
          </p:cNvPr>
          <p:cNvSpPr txBox="1"/>
          <p:nvPr/>
        </p:nvSpPr>
        <p:spPr>
          <a:xfrm>
            <a:off x="8692306" y="1821424"/>
            <a:ext cx="3260993" cy="258532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002060"/>
                </a:solidFill>
              </a:rPr>
              <a:t>The statistical information of the sample: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dirty="0">
                <a:solidFill>
                  <a:srgbClr val="002060"/>
                </a:solidFill>
              </a:rPr>
              <a:t>Population size per family;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dirty="0">
                <a:solidFill>
                  <a:srgbClr val="002060"/>
                </a:solidFill>
              </a:rPr>
              <a:t>Population &lt;18;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Population &gt; 65;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ja-JP" dirty="0">
                <a:solidFill>
                  <a:srgbClr val="002060"/>
                </a:solidFill>
              </a:rPr>
              <a:t>Jobless rate;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Percentage of holding a house…</a:t>
            </a:r>
            <a:endParaRPr kumimoji="1" lang="ja-JP" altLang="en-US">
              <a:solidFill>
                <a:srgbClr val="00206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D73A54B-70B5-3DE3-7A98-5CEEDDB4B904}"/>
              </a:ext>
            </a:extLst>
          </p:cNvPr>
          <p:cNvSpPr/>
          <p:nvPr/>
        </p:nvSpPr>
        <p:spPr>
          <a:xfrm>
            <a:off x="643876" y="4423272"/>
            <a:ext cx="2771353" cy="20696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C00000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49D9C19-0520-FCD5-3ED3-3015889F0A9E}"/>
              </a:ext>
            </a:extLst>
          </p:cNvPr>
          <p:cNvCxnSpPr/>
          <p:nvPr/>
        </p:nvCxnSpPr>
        <p:spPr>
          <a:xfrm>
            <a:off x="3415229" y="5506599"/>
            <a:ext cx="52770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477399-16CE-7D7A-FC30-6B1372629C0C}"/>
              </a:ext>
            </a:extLst>
          </p:cNvPr>
          <p:cNvSpPr txBox="1"/>
          <p:nvPr/>
        </p:nvSpPr>
        <p:spPr>
          <a:xfrm>
            <a:off x="8692307" y="4597721"/>
            <a:ext cx="3260993" cy="2031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b="1" dirty="0">
                <a:solidFill>
                  <a:srgbClr val="002060"/>
                </a:solidFill>
              </a:rPr>
              <a:t>M</a:t>
            </a:r>
            <a:r>
              <a:rPr kumimoji="1" lang="en-US" altLang="ja-JP" b="1" dirty="0">
                <a:solidFill>
                  <a:srgbClr val="002060"/>
                </a:solidFill>
              </a:rPr>
              <a:t>ain category expenditure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Total expenditure;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Food expenditure;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Rice;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Breads;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Noodles;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ja-JP" dirty="0">
                <a:solidFill>
                  <a:srgbClr val="002060"/>
                </a:solidFill>
              </a:rPr>
              <a:t>Fishes…</a:t>
            </a:r>
          </a:p>
        </p:txBody>
      </p:sp>
    </p:spTree>
    <p:extLst>
      <p:ext uri="{BB962C8B-B14F-4D97-AF65-F5344CB8AC3E}">
        <p14:creationId xmlns:p14="http://schemas.microsoft.com/office/powerpoint/2010/main" val="4149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804163-CDFB-CBA0-AA81-CFE6874E0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About the cooperation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AF34E6-5FD2-1C41-BEAA-BC1521058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ja-JP" b="1" dirty="0"/>
              <a:t>Project Overview</a:t>
            </a:r>
          </a:p>
          <a:p>
            <a:pPr lvl="1"/>
            <a:r>
              <a:rPr lang="en-US" altLang="ja-JP" b="1" dirty="0"/>
              <a:t>Topic</a:t>
            </a:r>
            <a:r>
              <a:rPr lang="en-US" altLang="ja-JP" dirty="0"/>
              <a:t>: Japanese Household Expenditure Pattern Analysis</a:t>
            </a:r>
          </a:p>
          <a:p>
            <a:pPr lvl="1"/>
            <a:r>
              <a:rPr lang="en-US" altLang="ja-JP" b="1" dirty="0"/>
              <a:t>Status</a:t>
            </a:r>
            <a:r>
              <a:rPr lang="en-US" altLang="ja-JP" dirty="0"/>
              <a:t>: Early exploratory stage</a:t>
            </a:r>
          </a:p>
          <a:p>
            <a:pPr lvl="1"/>
            <a:r>
              <a:rPr lang="en-US" altLang="ja-JP" b="1" dirty="0"/>
              <a:t>Data</a:t>
            </a:r>
            <a:r>
              <a:rPr lang="en-US" altLang="ja-JP" dirty="0"/>
              <a:t>: National Household Survey (</a:t>
            </a:r>
            <a:r>
              <a:rPr lang="en-US" altLang="zh-CN" dirty="0"/>
              <a:t>10</a:t>
            </a:r>
            <a:r>
              <a:rPr lang="en-US" altLang="ja-JP" dirty="0"/>
              <a:t>,000 households, 10 expenditure categories, 98+ items)</a:t>
            </a:r>
            <a:endParaRPr lang="en-US" altLang="ja-JP" b="1" dirty="0"/>
          </a:p>
          <a:p>
            <a:r>
              <a:rPr lang="en-US" altLang="ja-JP" b="1" dirty="0"/>
              <a:t>Collaboration Goals</a:t>
            </a:r>
          </a:p>
          <a:p>
            <a:pPr lvl="1"/>
            <a:r>
              <a:rPr lang="en-US" altLang="ja-JP" dirty="0"/>
              <a:t>Exchange methodological insights with European researchers</a:t>
            </a:r>
          </a:p>
          <a:p>
            <a:pPr lvl="1"/>
            <a:r>
              <a:rPr lang="en-US" altLang="ja-JP" dirty="0"/>
              <a:t>Develop joint publication strategies</a:t>
            </a:r>
          </a:p>
          <a:p>
            <a:pPr lvl="1"/>
            <a:r>
              <a:rPr lang="en-US" altLang="ja-JP" dirty="0"/>
              <a:t>Strengthen international research network for future funding applications</a:t>
            </a:r>
          </a:p>
          <a:p>
            <a:pPr lvl="1"/>
            <a:endParaRPr lang="en-US" altLang="ja-JP" dirty="0"/>
          </a:p>
          <a:p>
            <a:r>
              <a:rPr lang="en-US" altLang="ja-JP" b="1" dirty="0"/>
              <a:t>Working Format</a:t>
            </a:r>
          </a:p>
          <a:p>
            <a:pPr lvl="1"/>
            <a:r>
              <a:rPr lang="en-US" altLang="ja-JP" dirty="0"/>
              <a:t>Bi-monthly online meetings (Zoom/Teams)</a:t>
            </a:r>
          </a:p>
          <a:p>
            <a:pPr lvl="1"/>
            <a:r>
              <a:rPr lang="en-US" altLang="ja-JP" dirty="0"/>
              <a:t>Collaborative writing and analysis</a:t>
            </a:r>
          </a:p>
          <a:p>
            <a:pPr lvl="1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9461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A452F1-2232-D2B4-2E93-203E258E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Team members: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416D38-22B4-27DC-C1B5-F0E7172A1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ja-JP" b="1" dirty="0"/>
              <a:t>Research Team</a:t>
            </a:r>
          </a:p>
          <a:p>
            <a:r>
              <a:rPr lang="en-US" altLang="ja-JP" b="1" dirty="0"/>
              <a:t>1. Dr. Yohei Shida</a:t>
            </a:r>
            <a:r>
              <a:rPr lang="en-US" altLang="ja-JP" dirty="0"/>
              <a:t> (Corresponding Author)</a:t>
            </a:r>
          </a:p>
          <a:p>
            <a:r>
              <a:rPr lang="en-US" altLang="ja-JP"/>
              <a:t>Assasian </a:t>
            </a:r>
            <a:r>
              <a:rPr lang="en-US" altLang="ja-JP" dirty="0"/>
              <a:t>Professor, Tsukuba University</a:t>
            </a:r>
          </a:p>
          <a:p>
            <a:r>
              <a:rPr lang="en-US" altLang="ja-JP" dirty="0"/>
              <a:t>Former Takayasu Lab PhD (graduated 2023)</a:t>
            </a:r>
          </a:p>
          <a:p>
            <a:r>
              <a:rPr lang="en-US" altLang="ja-JP" dirty="0"/>
              <a:t>Expertise: Social physics, human mobility</a:t>
            </a:r>
          </a:p>
          <a:p>
            <a:r>
              <a:rPr lang="en-US" altLang="ja-JP" dirty="0">
                <a:hlinkClick r:id="rId2"/>
              </a:rPr>
              <a:t>Google scholar: </a:t>
            </a:r>
            <a:r>
              <a:rPr lang="en-US" altLang="ja-JP" dirty="0"/>
              <a:t>https://</a:t>
            </a:r>
            <a:r>
              <a:rPr lang="en-US" altLang="ja-JP" dirty="0" err="1"/>
              <a:t>scholar.google.com</a:t>
            </a:r>
            <a:r>
              <a:rPr lang="en-US" altLang="ja-JP" dirty="0"/>
              <a:t>/</a:t>
            </a:r>
            <a:r>
              <a:rPr lang="en-US" altLang="ja-JP" dirty="0" err="1"/>
              <a:t>citations?user</a:t>
            </a:r>
            <a:r>
              <a:rPr lang="en-US" altLang="ja-JP" dirty="0"/>
              <a:t>=Ef3wukEAAAAJ&amp;hl=</a:t>
            </a:r>
            <a:r>
              <a:rPr lang="en-US" altLang="ja-JP" dirty="0" err="1"/>
              <a:t>en</a:t>
            </a:r>
            <a:endParaRPr lang="en-US" altLang="ja-JP" dirty="0"/>
          </a:p>
          <a:p>
            <a:r>
              <a:rPr lang="en-US" altLang="ja-JP" b="1" dirty="0"/>
              <a:t>2. Dr. Hajime Koike</a:t>
            </a:r>
            <a:endParaRPr lang="en-US" altLang="ja-JP" dirty="0"/>
          </a:p>
          <a:p>
            <a:r>
              <a:rPr lang="en-US" altLang="ja-JP" dirty="0"/>
              <a:t>Associate Professor, Kyoto University</a:t>
            </a:r>
          </a:p>
          <a:p>
            <a:r>
              <a:rPr lang="en-US" altLang="ja-JP" dirty="0"/>
              <a:t>Former Takayasu Lab PhD (graduated mid-2024)</a:t>
            </a:r>
          </a:p>
          <a:p>
            <a:r>
              <a:rPr lang="en-US" altLang="ja-JP" dirty="0"/>
              <a:t>Expertise: Non-linear theory, mathematical modeling</a:t>
            </a:r>
          </a:p>
          <a:p>
            <a:r>
              <a:rPr lang="en-US" altLang="ja-JP" dirty="0">
                <a:hlinkClick r:id="rId2"/>
              </a:rPr>
              <a:t>ResearchGate</a:t>
            </a:r>
            <a:r>
              <a:rPr lang="en-US" altLang="ja-JP" dirty="0"/>
              <a:t>: https://</a:t>
            </a:r>
            <a:r>
              <a:rPr lang="en-US" altLang="ja-JP" dirty="0" err="1"/>
              <a:t>www.researchgate.net</a:t>
            </a:r>
            <a:r>
              <a:rPr lang="en-US" altLang="ja-JP" dirty="0"/>
              <a:t>/profile/Hajime-Koike</a:t>
            </a:r>
          </a:p>
          <a:p>
            <a:r>
              <a:rPr lang="en-US" altLang="ja-JP" b="1" dirty="0"/>
              <a:t>3. Yixuan</a:t>
            </a:r>
            <a:r>
              <a:rPr lang="en-US" altLang="ja-JP" dirty="0"/>
              <a:t> (PhD Candidate)</a:t>
            </a:r>
          </a:p>
          <a:p>
            <a:r>
              <a:rPr lang="en-US" altLang="ja-JP" dirty="0"/>
              <a:t>Tokyo University of Science, Takayasu Lab</a:t>
            </a:r>
          </a:p>
          <a:p>
            <a:r>
              <a:rPr lang="en-US" altLang="ja-JP" dirty="0"/>
              <a:t>Expertise: Urban transportation, statistical physics applications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364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7A17F-6EC1-B49C-721B-20D81F03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Initial Research Direction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F55EAF-D7C2-026F-0CA3-83186320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kumimoji="1" lang="en-US" altLang="ja-JP" dirty="0"/>
              <a:t>Analyze structural changes in household expenditure patterns over time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kumimoji="1" lang="en-US" altLang="ja-JP" dirty="0"/>
              <a:t>Identify correlations and anomalies between spending categories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kumimoji="1" lang="en-US" altLang="ja-JP" dirty="0"/>
              <a:t>Apply time series analysis and statistical physics methods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zh-CN" altLang="en-US" dirty="0"/>
              <a:t>。。。。</a:t>
            </a:r>
            <a:endParaRPr lang="en-US" altLang="zh-CN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12240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3A77B2-6CDC-C6BB-861E-EE38DC9A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4CA634-AAD0-6254-1511-3D5065128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Purpose</a:t>
            </a:r>
          </a:p>
          <a:p>
            <a:r>
              <a:rPr lang="en-US" altLang="ja-JP" dirty="0" err="1"/>
              <a:t>Cosality</a:t>
            </a:r>
            <a:r>
              <a:rPr lang="en-US" altLang="ja-JP" dirty="0"/>
              <a:t> and correlation</a:t>
            </a:r>
            <a:endParaRPr kumimoji="1" lang="en-US" altLang="ja-JP" dirty="0"/>
          </a:p>
          <a:p>
            <a:r>
              <a:rPr lang="en-US" altLang="ja-JP" dirty="0"/>
              <a:t>Question</a:t>
            </a:r>
          </a:p>
          <a:p>
            <a:r>
              <a:rPr kumimoji="1" lang="en-US" altLang="ja-JP" dirty="0"/>
              <a:t>Prediction (FLSPI)</a:t>
            </a:r>
          </a:p>
          <a:p>
            <a:r>
              <a:rPr lang="en-US" altLang="ja-JP" dirty="0"/>
              <a:t>AI-based social politics, demographic problem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061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470</Words>
  <Application>Microsoft Macintosh PowerPoint</Application>
  <PresentationFormat>ワイド画面</PresentationFormat>
  <Paragraphs>73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Meiryo</vt:lpstr>
      <vt:lpstr>游ゴシック</vt:lpstr>
      <vt:lpstr>Arial</vt:lpstr>
      <vt:lpstr>Wingdings</vt:lpstr>
      <vt:lpstr>Office テーマ</vt:lpstr>
      <vt:lpstr>Introduction of data  &amp; Research question  &amp; Research field </vt:lpstr>
      <vt:lpstr>Data introduction</vt:lpstr>
      <vt:lpstr>Sample data description</vt:lpstr>
      <vt:lpstr>Categories been statisticed continuously:   </vt:lpstr>
      <vt:lpstr>What the data looks like</vt:lpstr>
      <vt:lpstr>About the cooperation</vt:lpstr>
      <vt:lpstr>Team members:</vt:lpstr>
      <vt:lpstr>Initial Research Direction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8</cp:revision>
  <dcterms:created xsi:type="dcterms:W3CDTF">2025-12-26T05:13:06Z</dcterms:created>
  <dcterms:modified xsi:type="dcterms:W3CDTF">2026-01-07T08:27:07Z</dcterms:modified>
</cp:coreProperties>
</file>